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8C"/>
          </a:solidFill>
          <a:ln w="10160"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621792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00788C"/>
                </a:solidFill>
                <a:latin typeface="Aptos"/>
              </a:rPr>
              <a:t>AWS CLOUD SECURITY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8138160" cy="12344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3400" b="1">
                <a:solidFill>
                  <a:srgbClr val="162334"/>
                </a:solidFill>
                <a:latin typeface="Aptos"/>
              </a:rPr>
              <a:t>CSPM, Threat Detection
&amp; Automated Remediation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88920"/>
            <a:ext cx="7772400" cy="6858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700" b="0">
                <a:solidFill>
                  <a:srgbClr val="2F3A48"/>
                </a:solidFill>
                <a:latin typeface="Aptos"/>
              </a:rPr>
              <a:t>A practical security workflow built around Security Hub, AWS Config,
Security Lake, Athena, EventBridge and Lambda.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1143000"/>
            <a:ext cx="2606040" cy="3886200"/>
          </a:xfrm>
          <a:prstGeom prst="roundRect">
            <a:avLst/>
          </a:prstGeom>
          <a:solidFill>
            <a:srgbClr val="F4F8F9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06840" y="1508760"/>
            <a:ext cx="20574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657382"/>
                </a:solidFill>
                <a:latin typeface="Aptos"/>
              </a:rPr>
              <a:t>POSTURE 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1965960"/>
            <a:ext cx="1965960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3800" b="1">
                <a:solidFill>
                  <a:srgbClr val="DB892A"/>
                </a:solidFill>
                <a:latin typeface="Aptos"/>
              </a:rPr>
              <a:t>42%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2587752"/>
            <a:ext cx="196596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200" b="0">
                <a:solidFill>
                  <a:srgbClr val="2F3A48"/>
                </a:solidFill>
                <a:latin typeface="Aptos"/>
              </a:rP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38360" y="2944368"/>
            <a:ext cx="914400" cy="4114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2200" b="1">
                <a:solidFill>
                  <a:srgbClr val="00788C"/>
                </a:solidFill>
                <a:latin typeface="Aptos"/>
              </a:rPr>
              <a:t>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3429000"/>
            <a:ext cx="1965960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3800" b="1">
                <a:solidFill>
                  <a:srgbClr val="2C8957"/>
                </a:solidFill>
                <a:latin typeface="Aptos"/>
              </a:rPr>
              <a:t>75%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4050791"/>
            <a:ext cx="196596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200" b="0">
                <a:solidFill>
                  <a:srgbClr val="2F3A48"/>
                </a:solidFill>
                <a:latin typeface="Aptos"/>
              </a:rPr>
              <a:t>observed later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715000"/>
            <a:ext cx="3657600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Prepared by Vedant Kale
30 September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989320"/>
            <a:ext cx="347472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0">
                <a:solidFill>
                  <a:srgbClr val="657382"/>
                </a:solidFill>
                <a:latin typeface="Aptos"/>
              </a:rPr>
              <a:t>Shreik Global • Cloud Engineer • Level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8C"/>
          </a:solidFill>
          <a:ln w="10160"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00788C"/>
                </a:solidFill>
                <a:latin typeface="Aptos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600" b="1">
                <a:solidFill>
                  <a:srgbClr val="162334"/>
                </a:solidFill>
                <a:latin typeface="Aptos"/>
              </a:rPr>
              <a:t>What the project was designed to prove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41148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657382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57382"/>
                </a:solidFill>
                <a:latin typeface="Aptos"/>
              </a:rPr>
              <a:t>SHREIK GLOBAL  •  AWS CLOUD 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32588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57382"/>
                </a:solidFill>
                <a:latin typeface="Aptos"/>
              </a:rPr>
              <a:t>Vedant Kale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0881360" cy="4572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600" b="0">
                <a:solidFill>
                  <a:srgbClr val="2F3A48"/>
                </a:solidFill>
                <a:latin typeface="Aptos"/>
              </a:rPr>
              <a:t>The goal was not just to collect findings. The workflow was built to show what happens after a finding appears.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342900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039112"/>
            <a:ext cx="301752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00788C"/>
                </a:solidFill>
                <a:latin typeface="Aptos"/>
              </a:rPr>
              <a:t>DETECT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350008"/>
            <a:ext cx="2870529" cy="4247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 dirty="0">
                <a:solidFill>
                  <a:srgbClr val="2F3A48"/>
                </a:solidFill>
                <a:latin typeface="Aptos"/>
              </a:rPr>
              <a:t>Security Hub + AWS </a:t>
            </a:r>
            <a:r>
              <a:rPr sz="1200" b="0" dirty="0" err="1">
                <a:solidFill>
                  <a:srgbClr val="2F3A48"/>
                </a:solidFill>
                <a:latin typeface="Aptos"/>
              </a:rPr>
              <a:t>Config</a:t>
            </a:r>
            <a:r>
              <a:rPr sz="1200" b="0" dirty="0">
                <a:solidFill>
                  <a:srgbClr val="2F3A48"/>
                </a:solidFill>
                <a:latin typeface="Aptos"/>
              </a:rPr>
              <a:t> continuously </a:t>
            </a:r>
            <a:endParaRPr lang="en-IN" sz="1200" b="0" dirty="0" smtClean="0">
              <a:solidFill>
                <a:srgbClr val="2F3A48"/>
              </a:solidFill>
              <a:latin typeface="Aptos"/>
            </a:endParaRPr>
          </a:p>
          <a:p>
            <a:pPr algn="l"/>
            <a:r>
              <a:rPr sz="1200" b="0" dirty="0" smtClean="0">
                <a:solidFill>
                  <a:srgbClr val="2F3A48"/>
                </a:solidFill>
                <a:latin typeface="Aptos"/>
              </a:rPr>
              <a:t>surface </a:t>
            </a:r>
            <a:r>
              <a:rPr sz="1200" b="0" dirty="0">
                <a:solidFill>
                  <a:srgbClr val="2F3A48"/>
                </a:solidFill>
                <a:latin typeface="Aptos"/>
              </a:rPr>
              <a:t>posture issues.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59" y="1874519"/>
            <a:ext cx="342900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2039112"/>
            <a:ext cx="301752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DB892A"/>
                </a:solidFill>
                <a:latin typeface="Aptos"/>
              </a:rPr>
              <a:t>PRIORITISE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50008"/>
            <a:ext cx="3028778" cy="4247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 dirty="0">
                <a:solidFill>
                  <a:srgbClr val="2F3A48"/>
                </a:solidFill>
                <a:latin typeface="Aptos"/>
              </a:rPr>
              <a:t>Risk is considered using severity, exposure </a:t>
            </a:r>
            <a:endParaRPr lang="en-IN" sz="1200" b="0" dirty="0" smtClean="0">
              <a:solidFill>
                <a:srgbClr val="2F3A48"/>
              </a:solidFill>
              <a:latin typeface="Aptos"/>
            </a:endParaRPr>
          </a:p>
          <a:p>
            <a:pPr algn="l"/>
            <a:r>
              <a:rPr sz="1200" b="0" dirty="0" smtClean="0">
                <a:solidFill>
                  <a:srgbClr val="2F3A48"/>
                </a:solidFill>
                <a:latin typeface="Aptos"/>
              </a:rPr>
              <a:t>and </a:t>
            </a:r>
            <a:r>
              <a:rPr sz="1200" b="0" dirty="0">
                <a:solidFill>
                  <a:srgbClr val="2F3A48"/>
                </a:solidFill>
                <a:latin typeface="Aptos"/>
              </a:rPr>
              <a:t>resource sensitivity.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874519"/>
            <a:ext cx="342900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79" y="2039112"/>
            <a:ext cx="301752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C8957"/>
                </a:solidFill>
                <a:latin typeface="Aptos"/>
              </a:rPr>
              <a:t>REMEDIATE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2350008"/>
            <a:ext cx="2849434" cy="4247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 dirty="0">
                <a:solidFill>
                  <a:srgbClr val="2F3A48"/>
                </a:solidFill>
                <a:latin typeface="Aptos"/>
              </a:rPr>
              <a:t>High-confidence S3 exposure is handled </a:t>
            </a:r>
            <a:endParaRPr lang="en-IN" sz="1200" b="0" dirty="0" smtClean="0">
              <a:solidFill>
                <a:srgbClr val="2F3A48"/>
              </a:solidFill>
              <a:latin typeface="Aptos"/>
            </a:endParaRPr>
          </a:p>
          <a:p>
            <a:pPr algn="l"/>
            <a:r>
              <a:rPr sz="1200" b="0" dirty="0" err="1" smtClean="0">
                <a:solidFill>
                  <a:srgbClr val="2F3A48"/>
                </a:solidFill>
                <a:latin typeface="Aptos"/>
              </a:rPr>
              <a:t>throug</a:t>
            </a:r>
            <a:r>
              <a:rPr lang="en-IN" sz="1200" b="0" dirty="0" smtClean="0">
                <a:solidFill>
                  <a:srgbClr val="2F3A48"/>
                </a:solidFill>
                <a:latin typeface="Aptos"/>
              </a:rPr>
              <a:t>h</a:t>
            </a:r>
            <a:r>
              <a:rPr lang="en-IN" sz="1200" dirty="0">
                <a:solidFill>
                  <a:srgbClr val="2F3A48"/>
                </a:solidFill>
                <a:latin typeface="Aptos"/>
              </a:rPr>
              <a:t> </a:t>
            </a:r>
            <a:r>
              <a:rPr sz="1200" b="0" dirty="0" smtClean="0">
                <a:solidFill>
                  <a:srgbClr val="2F3A48"/>
                </a:solidFill>
                <a:latin typeface="Aptos"/>
              </a:rPr>
              <a:t> </a:t>
            </a:r>
            <a:r>
              <a:rPr sz="1200" b="0" dirty="0" err="1">
                <a:solidFill>
                  <a:srgbClr val="2F3A48"/>
                </a:solidFill>
                <a:latin typeface="Aptos"/>
              </a:rPr>
              <a:t>EventBridge</a:t>
            </a:r>
            <a:r>
              <a:rPr sz="1200" b="0" dirty="0">
                <a:solidFill>
                  <a:srgbClr val="2F3A48"/>
                </a:solidFill>
                <a:latin typeface="Aptos"/>
              </a:rPr>
              <a:t> + Lambda.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383279"/>
            <a:ext cx="342900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547872"/>
            <a:ext cx="301752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BE3E37"/>
                </a:solidFill>
                <a:latin typeface="Aptos"/>
              </a:rPr>
              <a:t>PREVENT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858768"/>
            <a:ext cx="2821735" cy="4247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 dirty="0">
                <a:solidFill>
                  <a:srgbClr val="2F3A48"/>
                </a:solidFill>
                <a:latin typeface="Aptos"/>
              </a:rPr>
              <a:t>S3 Block Public Access makes the </a:t>
            </a:r>
            <a:r>
              <a:rPr sz="1200" b="0" dirty="0" smtClean="0">
                <a:solidFill>
                  <a:srgbClr val="2F3A48"/>
                </a:solidFill>
                <a:latin typeface="Aptos"/>
              </a:rPr>
              <a:t>same</a:t>
            </a:r>
            <a:endParaRPr lang="en-IN" sz="1200" b="0" dirty="0" smtClean="0">
              <a:solidFill>
                <a:srgbClr val="2F3A48"/>
              </a:solidFill>
              <a:latin typeface="Aptos"/>
            </a:endParaRPr>
          </a:p>
          <a:p>
            <a:pPr algn="l"/>
            <a:r>
              <a:rPr sz="1200" b="0" dirty="0" smtClean="0">
                <a:solidFill>
                  <a:srgbClr val="2F3A48"/>
                </a:solidFill>
                <a:latin typeface="Aptos"/>
              </a:rPr>
              <a:t> </a:t>
            </a:r>
            <a:r>
              <a:rPr sz="1200" b="0" dirty="0">
                <a:solidFill>
                  <a:srgbClr val="2F3A48"/>
                </a:solidFill>
                <a:latin typeface="Aptos"/>
              </a:rPr>
              <a:t>drift harder to reintroduce.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59" y="3383279"/>
            <a:ext cx="3429000" cy="1188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34840" y="3547872"/>
            <a:ext cx="301752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00788C"/>
                </a:solidFill>
                <a:latin typeface="Aptos"/>
              </a:rPr>
              <a:t>MEASURE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3858768"/>
            <a:ext cx="3041795" cy="4247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 dirty="0">
                <a:solidFill>
                  <a:srgbClr val="2F3A48"/>
                </a:solidFill>
                <a:latin typeface="Aptos"/>
              </a:rPr>
              <a:t>The CSPM score and findings are captured </a:t>
            </a:r>
            <a:endParaRPr lang="en-IN" sz="1200" b="0" dirty="0" smtClean="0">
              <a:solidFill>
                <a:srgbClr val="2F3A48"/>
              </a:solidFill>
              <a:latin typeface="Aptos"/>
            </a:endParaRPr>
          </a:p>
          <a:p>
            <a:pPr algn="l"/>
            <a:r>
              <a:rPr sz="1200" b="0" dirty="0" smtClean="0">
                <a:solidFill>
                  <a:srgbClr val="2F3A48"/>
                </a:solidFill>
                <a:latin typeface="Aptos"/>
              </a:rPr>
              <a:t>again </a:t>
            </a:r>
            <a:r>
              <a:rPr sz="1200" b="0" dirty="0">
                <a:solidFill>
                  <a:srgbClr val="2F3A48"/>
                </a:solidFill>
                <a:latin typeface="Aptos"/>
              </a:rPr>
              <a:t>after the changes.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074920"/>
            <a:ext cx="1097280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Environment: AWS ap-south-1 (Mumbai) • Security Hub FSBP • AWS Config • Security Lake/Athena • EventBridge • Lambda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8C"/>
          </a:solidFill>
          <a:ln w="10160"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00788C"/>
                </a:solidFill>
                <a:latin typeface="Aptos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600" b="1">
                <a:solidFill>
                  <a:srgbClr val="162334"/>
                </a:solidFill>
                <a:latin typeface="Aptos"/>
              </a:rPr>
              <a:t>Control architecture used in the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41148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657382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57382"/>
                </a:solidFill>
                <a:latin typeface="Aptos"/>
              </a:rPr>
              <a:t>SHREIK GLOBAL  •  AWS CLOUD 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32588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57382"/>
                </a:solidFill>
                <a:latin typeface="Aptos"/>
              </a:rPr>
              <a:t>Vedant Kale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2331720" cy="1143000"/>
          </a:xfrm>
          <a:prstGeom prst="roundRect">
            <a:avLst/>
          </a:prstGeom>
          <a:solidFill>
            <a:srgbClr val="E7F4F7"/>
          </a:solidFill>
          <a:ln w="10160"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993392"/>
            <a:ext cx="2112263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00788C"/>
                </a:solidFill>
                <a:latin typeface="Aptos"/>
              </a:rPr>
              <a:t>AWS 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331720"/>
            <a:ext cx="2112263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00" b="0">
                <a:solidFill>
                  <a:srgbClr val="2F3A48"/>
                </a:solidFill>
                <a:latin typeface="Aptos"/>
              </a:rPr>
              <a:t>S3 • EC2 • IAM
VPC Flow Logs • CloudTrail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828800"/>
            <a:ext cx="2331720" cy="1143000"/>
          </a:xfrm>
          <a:prstGeom prst="roundRect">
            <a:avLst/>
          </a:prstGeom>
          <a:solidFill>
            <a:srgbClr val="E8F6ED"/>
          </a:solidFill>
          <a:ln w="10160">
            <a:solidFill>
              <a:srgbClr val="2C89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84448" y="1993392"/>
            <a:ext cx="2112263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2C8957"/>
                </a:solidFill>
                <a:latin typeface="Aptos"/>
              </a:rPr>
              <a:t>SECURITY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331720"/>
            <a:ext cx="2112263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00" b="0">
                <a:solidFill>
                  <a:srgbClr val="2F3A48"/>
                </a:solidFill>
                <a:latin typeface="Aptos"/>
              </a:rPr>
              <a:t>FSBP controls
Findings + posture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828800"/>
            <a:ext cx="2331720" cy="1143000"/>
          </a:xfrm>
          <a:prstGeom prst="roundRect">
            <a:avLst/>
          </a:prstGeom>
          <a:solidFill>
            <a:srgbClr val="FCF4E4"/>
          </a:solidFill>
          <a:ln w="10160">
            <a:solidFill>
              <a:srgbClr val="DB89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8" y="1993392"/>
            <a:ext cx="2112263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DB892A"/>
                </a:solidFill>
                <a:latin typeface="Aptos"/>
              </a:rPr>
              <a:t>CONFIG / SECURITY LAKE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331720"/>
            <a:ext cx="2112263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00" b="0">
                <a:solidFill>
                  <a:srgbClr val="2F3A48"/>
                </a:solidFill>
                <a:latin typeface="Aptos"/>
              </a:rPr>
              <a:t>Config rules
Athena hunting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828800"/>
            <a:ext cx="2331720" cy="1143000"/>
          </a:xfrm>
          <a:prstGeom prst="roundRect">
            <a:avLst/>
          </a:prstGeom>
          <a:solidFill>
            <a:srgbClr val="FAEDED"/>
          </a:solidFill>
          <a:ln w="10160">
            <a:solidFill>
              <a:srgbClr val="BE3E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45167" y="1993392"/>
            <a:ext cx="2112263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1">
                <a:solidFill>
                  <a:srgbClr val="BE3E37"/>
                </a:solidFill>
                <a:latin typeface="Aptos"/>
              </a:rPr>
              <a:t>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45167" y="2331720"/>
            <a:ext cx="2112263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100" b="0">
                <a:solidFill>
                  <a:srgbClr val="2F3A48"/>
                </a:solidFill>
                <a:latin typeface="Aptos"/>
              </a:rPr>
              <a:t>EventBridge
→ Lambda → AWS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2084831"/>
            <a:ext cx="41148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2400" b="1">
                <a:solidFill>
                  <a:srgbClr val="00788C"/>
                </a:solidFill>
                <a:latin typeface="Aptos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2084831"/>
            <a:ext cx="41148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2400" b="1">
                <a:solidFill>
                  <a:srgbClr val="00788C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2084831"/>
            <a:ext cx="41148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2400" b="1">
                <a:solidFill>
                  <a:srgbClr val="00788C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28800" y="3794760"/>
            <a:ext cx="854964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057400" y="4005072"/>
            <a:ext cx="141732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162334"/>
                </a:solidFill>
                <a:latin typeface="Aptos"/>
              </a:rPr>
              <a:t>Evidence 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3977639"/>
            <a:ext cx="658368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2F3A48"/>
                </a:solidFill>
                <a:latin typeface="Aptos"/>
              </a:rPr>
              <a:t>Finding  →  risk context  →  remediation decision  →  control re-check  →  posture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4407408"/>
            <a:ext cx="8138160" cy="25603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57382"/>
                </a:solidFill>
                <a:latin typeface="Aptos"/>
              </a:rPr>
              <a:t>The same sequence can be repeated for future posture checks and audit evidence.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8C"/>
          </a:solidFill>
          <a:ln w="10160"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00788C"/>
                </a:solidFill>
                <a:latin typeface="Aptos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600" b="1">
                <a:solidFill>
                  <a:srgbClr val="162334"/>
                </a:solidFill>
                <a:latin typeface="Aptos"/>
              </a:rPr>
              <a:t>Stage 1 — Security Hub &amp; Config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41148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657382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57382"/>
                </a:solidFill>
                <a:latin typeface="Aptos"/>
              </a:rPr>
              <a:t>SHREIK GLOBAL  •  AWS CLOUD 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32588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57382"/>
                </a:solidFill>
                <a:latin typeface="Aptos"/>
              </a:rPr>
              <a:t>Vedant Kale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1280160" cy="310896"/>
          </a:xfrm>
          <a:prstGeom prst="roundRect">
            <a:avLst/>
          </a:prstGeom>
          <a:solidFill>
            <a:srgbClr val="E7F4F7"/>
          </a:solidFill>
          <a:ln w="10160">
            <a:solidFill>
              <a:srgbClr val="E7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12801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00788C"/>
                </a:solidFill>
                <a:latin typeface="Aptos"/>
              </a:rPr>
              <a:t>STAGE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546354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old_4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451726"/>
            <a:ext cx="5317236" cy="268606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6072" y="5943600"/>
            <a:ext cx="5317236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657382"/>
                </a:solidFill>
                <a:latin typeface="Aptos"/>
              </a:rPr>
              <a:t>Security Hub FSBP standard / control 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59" y="1572768"/>
            <a:ext cx="546354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old_5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212" y="2388516"/>
            <a:ext cx="5317236" cy="281248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68212" y="5943600"/>
            <a:ext cx="5317236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657382"/>
                </a:solidFill>
                <a:latin typeface="Aptos"/>
              </a:rPr>
              <a:t>AWS Config recorder and resource coverage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8C"/>
          </a:solidFill>
          <a:ln w="10160"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00788C"/>
                </a:solidFill>
                <a:latin typeface="Aptos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600" b="1">
                <a:solidFill>
                  <a:srgbClr val="162334"/>
                </a:solidFill>
                <a:latin typeface="Aptos"/>
              </a:rPr>
              <a:t>Stage 1 — Config rules and controlled drift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41148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657382"/>
                </a:solidFill>
                <a:latin typeface="Aptos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57382"/>
                </a:solidFill>
                <a:latin typeface="Aptos"/>
              </a:rPr>
              <a:t>SHREIK GLOBAL  •  AWS CLOUD 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32588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57382"/>
                </a:solidFill>
                <a:latin typeface="Aptos"/>
              </a:rPr>
              <a:t>Vedant Kale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1280160" cy="310896"/>
          </a:xfrm>
          <a:prstGeom prst="roundRect">
            <a:avLst/>
          </a:prstGeom>
          <a:solidFill>
            <a:srgbClr val="E7F4F7"/>
          </a:solidFill>
          <a:ln w="10160">
            <a:solidFill>
              <a:srgbClr val="E7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12801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00788C"/>
                </a:solidFill>
                <a:latin typeface="Aptos"/>
              </a:rPr>
              <a:t>STAGE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546354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old_5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390464"/>
            <a:ext cx="5317236" cy="280859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6072" y="5943600"/>
            <a:ext cx="5317236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657382"/>
                </a:solidFill>
                <a:latin typeface="Aptos"/>
              </a:rPr>
              <a:t>S3 public-access test / policy warning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59" y="1572768"/>
            <a:ext cx="546354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old_12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212" y="2400202"/>
            <a:ext cx="5317236" cy="278911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68212" y="5943600"/>
            <a:ext cx="5317236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657382"/>
                </a:solidFill>
                <a:latin typeface="Aptos"/>
              </a:rPr>
              <a:t>Config rule view and evaluation state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8C"/>
          </a:solidFill>
          <a:ln w="10160"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00788C"/>
                </a:solidFill>
                <a:latin typeface="Aptos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600" b="1">
                <a:solidFill>
                  <a:srgbClr val="162334"/>
                </a:solidFill>
                <a:latin typeface="Aptos"/>
              </a:rPr>
              <a:t>Stage 1 — Preventive behaviour in the S3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41148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657382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57382"/>
                </a:solidFill>
                <a:latin typeface="Aptos"/>
              </a:rPr>
              <a:t>SHREIK GLOBAL  •  AWS CLOUD 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32588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57382"/>
                </a:solidFill>
                <a:latin typeface="Aptos"/>
              </a:rPr>
              <a:t>Vedant Kale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1280160" cy="310896"/>
          </a:xfrm>
          <a:prstGeom prst="roundRect">
            <a:avLst/>
          </a:prstGeom>
          <a:solidFill>
            <a:srgbClr val="E7F4F7"/>
          </a:solidFill>
          <a:ln w="10160">
            <a:solidFill>
              <a:srgbClr val="E7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12801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00788C"/>
                </a:solidFill>
                <a:latin typeface="Aptos"/>
              </a:rPr>
              <a:t>STAGE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546354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old_1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402150"/>
            <a:ext cx="5317236" cy="278521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6072" y="5943600"/>
            <a:ext cx="5317236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657382"/>
                </a:solidFill>
                <a:latin typeface="Aptos"/>
              </a:rPr>
              <a:t>Public policy attempt blocked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59" y="1572768"/>
            <a:ext cx="546354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old_5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212" y="2390464"/>
            <a:ext cx="5317236" cy="280859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68212" y="5943600"/>
            <a:ext cx="5317236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657382"/>
                </a:solidFill>
                <a:latin typeface="Aptos"/>
              </a:rPr>
              <a:t>Same test showing the preventive warning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8C"/>
          </a:solidFill>
          <a:ln w="10160"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00788C"/>
                </a:solidFill>
                <a:latin typeface="Aptos"/>
              </a:rPr>
              <a:t>STAGE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600" b="1">
                <a:solidFill>
                  <a:srgbClr val="162334"/>
                </a:solidFill>
                <a:latin typeface="Aptos"/>
              </a:rPr>
              <a:t>Baseline posture — where the account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41148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657382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57382"/>
                </a:solidFill>
                <a:latin typeface="Aptos"/>
              </a:rPr>
              <a:t>SHREIK GLOBAL  •  AWS CLOUD 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32588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57382"/>
                </a:solidFill>
                <a:latin typeface="Aptos"/>
              </a:rPr>
              <a:t>Vedant Kale</a:t>
            </a:r>
          </a:p>
        </p:txBody>
      </p:sp>
      <p:pic>
        <p:nvPicPr>
          <p:cNvPr id="8" name="Picture 7" descr="old_6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43960"/>
            <a:ext cx="7132320" cy="379867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001000" y="1600200"/>
            <a:ext cx="324612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65592" y="1755648"/>
            <a:ext cx="291693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500" b="1">
                <a:solidFill>
                  <a:srgbClr val="DB892A"/>
                </a:solidFill>
                <a:latin typeface="Aptos"/>
              </a:rPr>
              <a:t>42%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5592" y="2240280"/>
            <a:ext cx="2916936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162334"/>
                </a:solidFill>
                <a:latin typeface="Aptos"/>
              </a:rPr>
              <a:t>CSPM baseline score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2971800"/>
            <a:ext cx="15087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65592" y="3127248"/>
            <a:ext cx="117957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500" b="1">
                <a:solidFill>
                  <a:srgbClr val="2C8957"/>
                </a:solidFill>
                <a:latin typeface="Aptos"/>
              </a:rPr>
              <a:t>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5592" y="3611880"/>
            <a:ext cx="1179576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162334"/>
                </a:solidFill>
                <a:latin typeface="Aptos"/>
              </a:rPr>
              <a:t>Passed controls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38360" y="2971800"/>
            <a:ext cx="150876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02952" y="3127248"/>
            <a:ext cx="117957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500" b="1">
                <a:solidFill>
                  <a:srgbClr val="BE3E37"/>
                </a:solidFill>
                <a:latin typeface="Aptos"/>
              </a:rPr>
              <a:t>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2952" y="3611880"/>
            <a:ext cx="1179576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162334"/>
                </a:solidFill>
                <a:latin typeface="Aptos"/>
              </a:rPr>
              <a:t>Failed controls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4297680"/>
            <a:ext cx="324612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65592" y="4453128"/>
            <a:ext cx="291693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500" b="1">
                <a:solidFill>
                  <a:srgbClr val="657382"/>
                </a:solidFill>
                <a:latin typeface="Aptos"/>
              </a:rPr>
              <a:t>317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5592" y="4937760"/>
            <a:ext cx="2916936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162334"/>
                </a:solidFill>
                <a:latin typeface="Aptos"/>
              </a:rPr>
              <a:t>No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5623560"/>
            <a:ext cx="3108960" cy="4114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57382"/>
                </a:solidFill>
                <a:latin typeface="Aptos"/>
              </a:rPr>
              <a:t>This was the observed starting point before the later remediation/validation cycle.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8C"/>
          </a:solidFill>
          <a:ln w="10160"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00788C"/>
                </a:solidFill>
                <a:latin typeface="Aptos"/>
              </a:rPr>
              <a:t>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600" b="1">
                <a:solidFill>
                  <a:srgbClr val="162334"/>
                </a:solidFill>
                <a:latin typeface="Aptos"/>
              </a:rPr>
              <a:t>Stage 2 — Security Lake / Athena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41148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657382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57382"/>
                </a:solidFill>
                <a:latin typeface="Aptos"/>
              </a:rPr>
              <a:t>SHREIK GLOBAL  •  AWS CLOUD 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32588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57382"/>
                </a:solidFill>
                <a:latin typeface="Aptos"/>
              </a:rPr>
              <a:t>Vedant Kale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1280160" cy="310896"/>
          </a:xfrm>
          <a:prstGeom prst="roundRect">
            <a:avLst/>
          </a:prstGeom>
          <a:solidFill>
            <a:srgbClr val="E7F4F7"/>
          </a:solidFill>
          <a:ln w="10160">
            <a:solidFill>
              <a:srgbClr val="E7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12801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00788C"/>
                </a:solidFill>
                <a:latin typeface="Aptos"/>
              </a:rPr>
              <a:t>STAGE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356616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reenshot 2026-09-29 155925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903243"/>
            <a:ext cx="3419856" cy="17830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6072" y="5943600"/>
            <a:ext cx="3419856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657382"/>
                </a:solidFill>
                <a:latin typeface="Aptos"/>
              </a:rPr>
              <a:t>S3 data events — PutObject results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572768"/>
            <a:ext cx="356616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creenshot 2026-09-29 160030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900569"/>
            <a:ext cx="3419856" cy="178838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370832" y="5943600"/>
            <a:ext cx="3419856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657382"/>
                </a:solidFill>
                <a:latin typeface="Aptos"/>
              </a:rPr>
              <a:t>Security Hub findings 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572768"/>
            <a:ext cx="356616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Screenshot 2026-09-29 160107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2903243"/>
            <a:ext cx="3419856" cy="178303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65592" y="5943600"/>
            <a:ext cx="3419856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657382"/>
                </a:solidFill>
                <a:latin typeface="Aptos"/>
              </a:rPr>
              <a:t>VPC Flow Logs table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8C"/>
          </a:solidFill>
          <a:ln w="10160"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00788C"/>
                </a:solidFill>
                <a:latin typeface="Aptos"/>
              </a:rPr>
              <a:t>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600" b="1">
                <a:solidFill>
                  <a:srgbClr val="162334"/>
                </a:solidFill>
                <a:latin typeface="Aptos"/>
              </a:rPr>
              <a:t>Stage 2 — Findings and network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41148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657382"/>
                </a:solidFill>
                <a:latin typeface="Aptos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57382"/>
                </a:solidFill>
                <a:latin typeface="Aptos"/>
              </a:rPr>
              <a:t>SHREIK GLOBAL  •  AWS CLOUD 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32588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57382"/>
                </a:solidFill>
                <a:latin typeface="Aptos"/>
              </a:rPr>
              <a:t>Vedant Kale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1280160" cy="310896"/>
          </a:xfrm>
          <a:prstGeom prst="roundRect">
            <a:avLst/>
          </a:prstGeom>
          <a:solidFill>
            <a:srgbClr val="E7F4F7"/>
          </a:solidFill>
          <a:ln w="10160">
            <a:solidFill>
              <a:srgbClr val="E7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12801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00788C"/>
                </a:solidFill>
                <a:latin typeface="Aptos"/>
              </a:rPr>
              <a:t>STAGE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546354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reenshot 2026-09-29 160328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396143"/>
            <a:ext cx="5317236" cy="27972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6072" y="5943600"/>
            <a:ext cx="5317236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657382"/>
                </a:solidFill>
                <a:latin typeface="Aptos"/>
              </a:rPr>
              <a:t>Additional VPC Flow Logs result 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59" y="1572768"/>
            <a:ext cx="546354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creenshot 2026-09-29 160523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212" y="2400302"/>
            <a:ext cx="5317236" cy="278891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68212" y="5943600"/>
            <a:ext cx="5317236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657382"/>
                </a:solidFill>
                <a:latin typeface="Aptos"/>
              </a:rPr>
              <a:t>Critical Security Hub finding — S3 activity sequence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8C"/>
          </a:solidFill>
          <a:ln w="10160"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00788C"/>
                </a:solidFill>
                <a:latin typeface="Aptos"/>
              </a:rPr>
              <a:t>STAGE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600" b="1">
                <a:solidFill>
                  <a:srgbClr val="162334"/>
                </a:solidFill>
                <a:latin typeface="Aptos"/>
              </a:rPr>
              <a:t>Risk-based prioritisation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41148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657382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57382"/>
                </a:solidFill>
                <a:latin typeface="Aptos"/>
              </a:rPr>
              <a:t>SHREIK GLOBAL  •  AWS CLOUD 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32588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57382"/>
                </a:solidFill>
                <a:latin typeface="Aptos"/>
              </a:rPr>
              <a:t>Vedant Kale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804672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800" b="1">
                <a:solidFill>
                  <a:srgbClr val="162334"/>
                </a:solidFill>
                <a:latin typeface="Aptos"/>
              </a:rPr>
              <a:t>Risk score = Severity × Exposure × Resource Sensitivity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4846320" cy="475488"/>
          </a:xfrm>
          <a:prstGeom prst="rect">
            <a:avLst/>
          </a:prstGeom>
          <a:solidFill>
            <a:srgbClr val="F0F4F7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72" y="1929384"/>
            <a:ext cx="470001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162334"/>
                </a:solidFill>
                <a:latin typeface="Aptos"/>
              </a:rPr>
              <a:t>Finding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49240" y="1828800"/>
            <a:ext cx="1143000" cy="475488"/>
          </a:xfrm>
          <a:prstGeom prst="rect">
            <a:avLst/>
          </a:prstGeom>
          <a:solidFill>
            <a:srgbClr val="F0F4F7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22392" y="1929384"/>
            <a:ext cx="99669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162334"/>
                </a:solidFill>
                <a:latin typeface="Aptos"/>
              </a:rPr>
              <a:t>Severity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828800"/>
            <a:ext cx="1143000" cy="475488"/>
          </a:xfrm>
          <a:prstGeom prst="rect">
            <a:avLst/>
          </a:prstGeom>
          <a:solidFill>
            <a:srgbClr val="F0F4F7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65392" y="1929384"/>
            <a:ext cx="99669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162334"/>
                </a:solidFill>
                <a:latin typeface="Aptos"/>
              </a:rPr>
              <a:t>Exposure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1828800"/>
            <a:ext cx="1371600" cy="475488"/>
          </a:xfrm>
          <a:prstGeom prst="rect">
            <a:avLst/>
          </a:prstGeom>
          <a:solidFill>
            <a:srgbClr val="F0F4F7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08392" y="1929384"/>
            <a:ext cx="122529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162334"/>
                </a:solidFill>
                <a:latin typeface="Aptos"/>
              </a:rPr>
              <a:t>Sensitivity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06840" y="1828800"/>
            <a:ext cx="1097280" cy="475488"/>
          </a:xfrm>
          <a:prstGeom prst="rect">
            <a:avLst/>
          </a:prstGeom>
          <a:solidFill>
            <a:srgbClr val="F0F4F7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079992" y="1929384"/>
            <a:ext cx="95097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162334"/>
                </a:solidFill>
                <a:latin typeface="Aptos"/>
              </a:rPr>
              <a:t>Risk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359152"/>
            <a:ext cx="484632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" y="2459736"/>
            <a:ext cx="470001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Public S3 bucket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2359152"/>
            <a:ext cx="11430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22392" y="2459736"/>
            <a:ext cx="99669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359152"/>
            <a:ext cx="11430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65392" y="2459736"/>
            <a:ext cx="99669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5240" y="2359152"/>
            <a:ext cx="13716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08392" y="2459736"/>
            <a:ext cx="122529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2359152"/>
            <a:ext cx="109728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79992" y="2459736"/>
            <a:ext cx="95097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100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889504"/>
            <a:ext cx="484632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" y="2990088"/>
            <a:ext cx="470001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Unrestricted high-risk SG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349240" y="2889504"/>
            <a:ext cx="11430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22392" y="2990088"/>
            <a:ext cx="99669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92240" y="2889504"/>
            <a:ext cx="11430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65392" y="2990088"/>
            <a:ext cx="99669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635240" y="2889504"/>
            <a:ext cx="13716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08392" y="2990088"/>
            <a:ext cx="122529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6840" y="2889504"/>
            <a:ext cx="109728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079992" y="2990088"/>
            <a:ext cx="95097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100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3419856"/>
            <a:ext cx="484632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76072" y="3520439"/>
            <a:ext cx="470001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Public EBS snapshot access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49240" y="3419856"/>
            <a:ext cx="11430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422392" y="3520439"/>
            <a:ext cx="99669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3419856"/>
            <a:ext cx="11430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65392" y="3520439"/>
            <a:ext cx="99669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35240" y="3419856"/>
            <a:ext cx="13716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708392" y="3520439"/>
            <a:ext cx="122529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06840" y="3419856"/>
            <a:ext cx="109728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079992" y="3520439"/>
            <a:ext cx="95097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64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3950208"/>
            <a:ext cx="484632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76072" y="4050792"/>
            <a:ext cx="470001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Public SSM document sharing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49240" y="3950208"/>
            <a:ext cx="11430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422392" y="4050792"/>
            <a:ext cx="99669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3950208"/>
            <a:ext cx="11430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65392" y="4050792"/>
            <a:ext cx="99669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635240" y="3950208"/>
            <a:ext cx="13716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708392" y="4050792"/>
            <a:ext cx="122529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4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06840" y="3950208"/>
            <a:ext cx="109728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079992" y="4050792"/>
            <a:ext cx="95097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60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4480560"/>
            <a:ext cx="484632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76072" y="4581144"/>
            <a:ext cx="470001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ECS root filesystem writable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49240" y="4480560"/>
            <a:ext cx="11430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22392" y="4581144"/>
            <a:ext cx="99669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4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92240" y="4480560"/>
            <a:ext cx="11430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65392" y="4581144"/>
            <a:ext cx="99669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35240" y="4480560"/>
            <a:ext cx="13716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708392" y="4581144"/>
            <a:ext cx="122529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06840" y="4480560"/>
            <a:ext cx="109728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079992" y="4581144"/>
            <a:ext cx="95097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48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5010912"/>
            <a:ext cx="484632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76072" y="5111496"/>
            <a:ext cx="470001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Inspector EC2 scanning disabled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349240" y="5010912"/>
            <a:ext cx="11430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422392" y="5111496"/>
            <a:ext cx="99669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92240" y="5010912"/>
            <a:ext cx="11430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565392" y="5111496"/>
            <a:ext cx="99669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635240" y="5010912"/>
            <a:ext cx="137160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7708392" y="5111496"/>
            <a:ext cx="122529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006840" y="5010912"/>
            <a:ext cx="1097280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079992" y="5111496"/>
            <a:ext cx="950976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24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7635240" y="1828800"/>
            <a:ext cx="3977639" cy="3246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909560" y="2103120"/>
            <a:ext cx="33832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0788C"/>
                </a:solidFill>
                <a:latin typeface="Aptos"/>
              </a:rPr>
              <a:t>Why this mattered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909560" y="2560320"/>
            <a:ext cx="3246120" cy="2148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F3A48"/>
                </a:solidFill>
                <a:latin typeface="Aptos"/>
              </a:defRPr>
            </a:pPr>
            <a:r>
              <a:t>• Severity alone was not used as the final ordering.</a:t>
            </a:r>
          </a:p>
          <a:p>
            <a:pPr>
              <a:spcAft>
                <a:spcPts val="700"/>
              </a:spcAft>
              <a:defRPr sz="1200">
                <a:solidFill>
                  <a:srgbClr val="2F3A48"/>
                </a:solidFill>
                <a:latin typeface="Aptos"/>
              </a:defRPr>
            </a:pPr>
            <a:r>
              <a:t>• Internet exposure increased the risk of a finding.</a:t>
            </a:r>
          </a:p>
          <a:p>
            <a:pPr>
              <a:spcAft>
                <a:spcPts val="700"/>
              </a:spcAft>
              <a:defRPr sz="1200">
                <a:solidFill>
                  <a:srgbClr val="2F3A48"/>
                </a:solidFill>
                <a:latin typeface="Aptos"/>
              </a:defRPr>
            </a:pPr>
            <a:r>
              <a:t>• Sensitive resources received more weight.</a:t>
            </a:r>
          </a:p>
          <a:p>
            <a:pPr>
              <a:spcAft>
                <a:spcPts val="700"/>
              </a:spcAft>
              <a:defRPr sz="1200">
                <a:solidFill>
                  <a:srgbClr val="2F3A48"/>
                </a:solidFill>
                <a:latin typeface="Aptos"/>
              </a:defRPr>
            </a:pPr>
            <a:r>
              <a:t>• High-confidence configuration exposures were candidates for automation.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909560" y="4736592"/>
            <a:ext cx="3246120" cy="4114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0">
                <a:solidFill>
                  <a:srgbClr val="657382"/>
                </a:solidFill>
                <a:latin typeface="Aptos"/>
              </a:rPr>
              <a:t>The model is a project scoring method used to make prioritisation repeatable.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8C"/>
          </a:solidFill>
          <a:ln w="10160"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00788C"/>
                </a:solidFill>
                <a:latin typeface="Aptos"/>
              </a:rPr>
              <a:t>STAGE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600" b="1">
                <a:solidFill>
                  <a:srgbClr val="162334"/>
                </a:solidFill>
                <a:latin typeface="Aptos"/>
              </a:rPr>
              <a:t>Stage 3 — Automated remediation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41148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657382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57382"/>
                </a:solidFill>
                <a:latin typeface="Aptos"/>
              </a:rPr>
              <a:t>SHREIK GLOBAL  •  AWS CLOUD 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32588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57382"/>
                </a:solidFill>
                <a:latin typeface="Aptos"/>
              </a:rPr>
              <a:t>Vedant Kale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201168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2334"/>
                </a:solidFill>
                <a:latin typeface="Aptos"/>
              </a:rPr>
              <a:t>Security Hub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874519"/>
            <a:ext cx="45720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2200" b="1">
                <a:solidFill>
                  <a:srgbClr val="00788C"/>
                </a:solidFill>
                <a:latin typeface="Aptos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920240"/>
            <a:ext cx="164592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2334"/>
                </a:solidFill>
                <a:latin typeface="Aptos"/>
              </a:rPr>
              <a:t>EventBridge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874519"/>
            <a:ext cx="45720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2200" b="1">
                <a:solidFill>
                  <a:srgbClr val="00788C"/>
                </a:solidFill>
                <a:latin typeface="Aptos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920240"/>
            <a:ext cx="164592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2334"/>
                </a:solidFill>
                <a:latin typeface="Aptos"/>
              </a:rPr>
              <a:t>Lambda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1874519"/>
            <a:ext cx="45720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2200" b="1">
                <a:solidFill>
                  <a:srgbClr val="00788C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1920240"/>
            <a:ext cx="182880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2334"/>
                </a:solidFill>
                <a:latin typeface="Aptos"/>
              </a:rPr>
              <a:t>S3 API change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46920" y="1874519"/>
            <a:ext cx="45720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2200" b="1">
                <a:solidFill>
                  <a:srgbClr val="00788C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04120" y="1920240"/>
            <a:ext cx="128016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300" b="1">
                <a:solidFill>
                  <a:srgbClr val="162334"/>
                </a:solidFill>
                <a:latin typeface="Aptos"/>
              </a:rPr>
              <a:t>Re-check</a:t>
            </a:r>
          </a:p>
        </p:txBody>
      </p:sp>
      <p:pic>
        <p:nvPicPr>
          <p:cNvPr id="17" name="Picture 16" descr="old_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637106"/>
            <a:ext cx="6400800" cy="3366867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360920" y="2606040"/>
            <a:ext cx="416052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35240" y="2880360"/>
            <a:ext cx="356616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00788C"/>
                </a:solidFill>
                <a:latin typeface="Aptos"/>
              </a:rPr>
              <a:t>Safety built into the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3337560"/>
            <a:ext cx="3429000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F3A48"/>
                </a:solidFill>
                <a:latin typeface="Aptos"/>
              </a:defRPr>
            </a:pPr>
            <a:r>
              <a:t>• Check the finding before making a change.</a:t>
            </a:r>
          </a:p>
          <a:p>
            <a:pPr>
              <a:spcAft>
                <a:spcPts val="700"/>
              </a:spcAft>
              <a:defRPr sz="1200">
                <a:solidFill>
                  <a:srgbClr val="2F3A48"/>
                </a:solidFill>
                <a:latin typeface="Aptos"/>
              </a:defRPr>
            </a:pPr>
            <a:r>
              <a:t>• Respect the protected tag: CSPM-Remediation=false.</a:t>
            </a:r>
          </a:p>
          <a:p>
            <a:pPr>
              <a:spcAft>
                <a:spcPts val="700"/>
              </a:spcAft>
              <a:defRPr sz="1200">
                <a:solidFill>
                  <a:srgbClr val="2F3A48"/>
                </a:solidFill>
                <a:latin typeface="Aptos"/>
              </a:defRPr>
            </a:pPr>
            <a:r>
              <a:t>• Only high-confidence S3 exposure is auto-remediated.</a:t>
            </a:r>
          </a:p>
          <a:p>
            <a:pPr>
              <a:spcAft>
                <a:spcPts val="700"/>
              </a:spcAft>
              <a:defRPr sz="1200">
                <a:solidFill>
                  <a:srgbClr val="2F3A48"/>
                </a:solidFill>
                <a:latin typeface="Aptos"/>
              </a:defRPr>
            </a:pPr>
            <a:r>
              <a:t>• Other business-sensitive changes can be escalated for review.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8C"/>
          </a:solidFill>
          <a:ln w="10160"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00788C"/>
                </a:solidFill>
                <a:latin typeface="Aptos"/>
              </a:rPr>
              <a:t>STAGE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600" b="1">
                <a:solidFill>
                  <a:srgbClr val="162334"/>
                </a:solidFill>
                <a:latin typeface="Aptos"/>
              </a:rPr>
              <a:t>Stage 3 — Lambda and EventBridge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41148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657382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57382"/>
                </a:solidFill>
                <a:latin typeface="Aptos"/>
              </a:rPr>
              <a:t>SHREIK GLOBAL  •  AWS CLOUD 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32588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57382"/>
                </a:solidFill>
                <a:latin typeface="Aptos"/>
              </a:rPr>
              <a:t>Vedant Kale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1280160" cy="310896"/>
          </a:xfrm>
          <a:prstGeom prst="roundRect">
            <a:avLst/>
          </a:prstGeom>
          <a:solidFill>
            <a:srgbClr val="E7F4F7"/>
          </a:solidFill>
          <a:ln w="10160">
            <a:solidFill>
              <a:srgbClr val="E7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12801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00788C"/>
                </a:solidFill>
                <a:latin typeface="Aptos"/>
              </a:rPr>
              <a:t>STAGE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546354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old_9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396307"/>
            <a:ext cx="5317236" cy="279690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6072" y="5943600"/>
            <a:ext cx="5317236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657382"/>
                </a:solidFill>
                <a:latin typeface="Aptos"/>
              </a:rPr>
              <a:t>Lambda remediation code in ap-south-1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59" y="1572768"/>
            <a:ext cx="546354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old_10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212" y="2400202"/>
            <a:ext cx="5317236" cy="278911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68212" y="5943600"/>
            <a:ext cx="5317236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657382"/>
                </a:solidFill>
                <a:latin typeface="Aptos"/>
              </a:rPr>
              <a:t>EventBridge rule / target configuration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291072"/>
            <a:ext cx="109728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57382"/>
                </a:solidFill>
                <a:latin typeface="Aptos"/>
              </a:rPr>
              <a:t>Evidence shows the implementation components used for the remediation path.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8C"/>
          </a:solidFill>
          <a:ln w="10160"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00788C"/>
                </a:solidFill>
                <a:latin typeface="Aptos"/>
              </a:rPr>
              <a:t>STAGE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600" b="1">
                <a:solidFill>
                  <a:srgbClr val="162334"/>
                </a:solidFill>
                <a:latin typeface="Aptos"/>
              </a:rPr>
              <a:t>Stage 4 — Prevention and detective controls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41148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657382"/>
                </a:solidFill>
                <a:latin typeface="Aptos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57382"/>
                </a:solidFill>
                <a:latin typeface="Aptos"/>
              </a:rPr>
              <a:t>SHREIK GLOBAL  •  AWS CLOUD 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32588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57382"/>
                </a:solidFill>
                <a:latin typeface="Aptos"/>
              </a:rPr>
              <a:t>Vedant Kale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1280160" cy="310896"/>
          </a:xfrm>
          <a:prstGeom prst="roundRect">
            <a:avLst/>
          </a:prstGeom>
          <a:solidFill>
            <a:srgbClr val="E7F4F7"/>
          </a:solidFill>
          <a:ln w="10160">
            <a:solidFill>
              <a:srgbClr val="E7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12801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00788C"/>
                </a:solidFill>
                <a:latin typeface="Aptos"/>
              </a:rPr>
              <a:t>STAGE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356616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old_1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899083"/>
            <a:ext cx="3419856" cy="179135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6072" y="5943600"/>
            <a:ext cx="3419856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657382"/>
                </a:solidFill>
                <a:latin typeface="Aptos"/>
              </a:rPr>
              <a:t>Preventive S3 public-policy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572768"/>
            <a:ext cx="356616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old_5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901727"/>
            <a:ext cx="3419856" cy="18063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370832" y="5943600"/>
            <a:ext cx="3419856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657382"/>
                </a:solidFill>
                <a:latin typeface="Aptos"/>
              </a:rPr>
              <a:t>Preventive S3 test — warning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1572768"/>
            <a:ext cx="356616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old_12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5592" y="2897830"/>
            <a:ext cx="3419856" cy="179385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165592" y="5943600"/>
            <a:ext cx="3419856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657382"/>
                </a:solidFill>
                <a:latin typeface="Aptos"/>
              </a:rPr>
              <a:t>AWS Config rules 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291072"/>
            <a:ext cx="1097280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57382"/>
                </a:solidFill>
                <a:latin typeface="Aptos"/>
              </a:rPr>
              <a:t>The S3 Block Public Access control prevents the tested public configuration from being introduced while Config/Security Hub provide detective coverage.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8C"/>
          </a:solidFill>
          <a:ln w="10160"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00788C"/>
                </a:solidFill>
                <a:latin typeface="Aptos"/>
              </a:rPr>
              <a:t>STAGE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600" b="1">
                <a:solidFill>
                  <a:srgbClr val="162334"/>
                </a:solidFill>
                <a:latin typeface="Aptos"/>
              </a:rPr>
              <a:t>Stage 5 — Remediation verification on the bucket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41148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657382"/>
                </a:solidFill>
                <a:latin typeface="Aptos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57382"/>
                </a:solidFill>
                <a:latin typeface="Aptos"/>
              </a:rPr>
              <a:t>SHREIK GLOBAL  •  AWS CLOUD 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32588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57382"/>
                </a:solidFill>
                <a:latin typeface="Aptos"/>
              </a:rPr>
              <a:t>Vedant Kale</a:t>
            </a:r>
          </a:p>
        </p:txBody>
      </p:sp>
      <p:pic>
        <p:nvPicPr>
          <p:cNvPr id="8" name="Picture 7" descr="Screenshot 2026-09-29 160718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26466"/>
            <a:ext cx="7406640" cy="390798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183879" y="1417320"/>
            <a:ext cx="3429000" cy="4297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58200" y="1737360"/>
            <a:ext cx="283464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162334"/>
                </a:solidFill>
                <a:latin typeface="Aptos"/>
              </a:rPr>
              <a:t>Verification 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240280"/>
            <a:ext cx="283464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2C8957"/>
                </a:solidFill>
                <a:latin typeface="Aptos"/>
              </a:rPr>
              <a:t>Block all public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200" y="2697480"/>
            <a:ext cx="914400" cy="4114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600" b="1">
                <a:solidFill>
                  <a:srgbClr val="2C8957"/>
                </a:solidFill>
                <a:latin typeface="Aptos"/>
              </a:rPr>
              <a:t>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337560"/>
            <a:ext cx="2743200" cy="1600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100">
                <a:solidFill>
                  <a:srgbClr val="2F3A48"/>
                </a:solidFill>
                <a:latin typeface="Aptos"/>
              </a:defRPr>
            </a:pPr>
            <a:r>
              <a:t>• The bucket remained protected against public access.</a:t>
            </a:r>
          </a:p>
          <a:p>
            <a:pPr>
              <a:spcAft>
                <a:spcPts val="700"/>
              </a:spcAft>
              <a:defRPr sz="1100">
                <a:solidFill>
                  <a:srgbClr val="2F3A48"/>
                </a:solidFill>
                <a:latin typeface="Aptos"/>
              </a:defRPr>
            </a:pPr>
            <a:r>
              <a:t>• This is the control state used for the post-remediation check.</a:t>
            </a:r>
          </a:p>
          <a:p>
            <a:pPr>
              <a:spcAft>
                <a:spcPts val="700"/>
              </a:spcAft>
              <a:defRPr sz="1100">
                <a:solidFill>
                  <a:srgbClr val="2F3A48"/>
                </a:solidFill>
                <a:latin typeface="Aptos"/>
              </a:defRPr>
            </a:pPr>
            <a:r>
              <a:t>• Evidence is taken from the S3 Permissions page.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8C"/>
          </a:solidFill>
          <a:ln w="10160"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00788C"/>
                </a:solidFill>
                <a:latin typeface="Aptos"/>
              </a:rPr>
              <a:t>STAGE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600" b="1">
                <a:solidFill>
                  <a:srgbClr val="162334"/>
                </a:solidFill>
                <a:latin typeface="Aptos"/>
              </a:rPr>
              <a:t>Stage 5 — Current Security Hub findings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41148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657382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57382"/>
                </a:solidFill>
                <a:latin typeface="Aptos"/>
              </a:rPr>
              <a:t>SHREIK GLOBAL  •  AWS CLOUD 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32588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57382"/>
                </a:solidFill>
                <a:latin typeface="Aptos"/>
              </a:rPr>
              <a:t>Vedant Kale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143000"/>
            <a:ext cx="1280160" cy="310896"/>
          </a:xfrm>
          <a:prstGeom prst="roundRect">
            <a:avLst/>
          </a:prstGeom>
          <a:solidFill>
            <a:srgbClr val="E7F4F7"/>
          </a:solidFill>
          <a:ln w="10160">
            <a:solidFill>
              <a:srgbClr val="E7F4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188720"/>
            <a:ext cx="128016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900" b="1">
                <a:solidFill>
                  <a:srgbClr val="00788C"/>
                </a:solidFill>
                <a:latin typeface="Aptos"/>
              </a:rPr>
              <a:t>STAGE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572768"/>
            <a:ext cx="546354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Screenshot 2026-09-30 120319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2412777"/>
            <a:ext cx="5317236" cy="27639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6072" y="5943600"/>
            <a:ext cx="5317236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657382"/>
                </a:solidFill>
                <a:latin typeface="Aptos"/>
              </a:rPr>
              <a:t>Current severity summary: 21 Critical / 175 High / 180 Medium / 70 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59" y="1572768"/>
            <a:ext cx="5463540" cy="4617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Screenshot 2026-09-30 1206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212" y="2470995"/>
            <a:ext cx="5317236" cy="26475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68212" y="5943600"/>
            <a:ext cx="5317236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800" b="0">
                <a:solidFill>
                  <a:srgbClr val="657382"/>
                </a:solidFill>
                <a:latin typeface="Aptos"/>
              </a:rPr>
              <a:t>Current CSPM posture: 75% (287 passed / 96 failed)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8C"/>
          </a:solidFill>
          <a:ln w="10160"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00788C"/>
                </a:solidFill>
                <a:latin typeface="Aptos"/>
              </a:rPr>
              <a:t>STAGE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600" b="1">
                <a:solidFill>
                  <a:srgbClr val="162334"/>
                </a:solidFill>
                <a:latin typeface="Aptos"/>
              </a:rPr>
              <a:t>Before → after: posture score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41148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657382"/>
                </a:solidFill>
                <a:latin typeface="Aptos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57382"/>
                </a:solidFill>
                <a:latin typeface="Aptos"/>
              </a:rPr>
              <a:t>SHREIK GLOBAL  •  AWS CLOUD 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32588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57382"/>
                </a:solidFill>
                <a:latin typeface="Aptos"/>
              </a:rPr>
              <a:t>Vedant Kale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34440"/>
            <a:ext cx="11155680" cy="5029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118872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DB892A"/>
                </a:solidFill>
                <a:latin typeface="Aptos"/>
              </a:rPr>
              <a:t>BEFORE</a:t>
            </a:r>
          </a:p>
        </p:txBody>
      </p:sp>
      <p:pic>
        <p:nvPicPr>
          <p:cNvPr id="10" name="Picture 9" descr="photo_2026-09-30_15-30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60407"/>
            <a:ext cx="5166360" cy="27486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606040" y="5532120"/>
            <a:ext cx="1325880" cy="4114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2400" b="1">
                <a:solidFill>
                  <a:srgbClr val="DB892A"/>
                </a:solidFill>
                <a:latin typeface="Aptos"/>
              </a:rPr>
              <a:t>42%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5897880"/>
            <a:ext cx="132588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0">
                <a:solidFill>
                  <a:srgbClr val="657382"/>
                </a:solidFill>
                <a:latin typeface="Aptos"/>
              </a:rPr>
              <a:t>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246120"/>
            <a:ext cx="731520" cy="4572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3000" b="1">
                <a:solidFill>
                  <a:srgbClr val="00788C"/>
                </a:solidFill>
                <a:latin typeface="Apto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508760"/>
            <a:ext cx="18288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2C8957"/>
                </a:solidFill>
                <a:latin typeface="Aptos"/>
              </a:rPr>
              <a:t>LATER OBSERVED</a:t>
            </a:r>
          </a:p>
        </p:txBody>
      </p:sp>
      <p:pic>
        <p:nvPicPr>
          <p:cNvPr id="16" name="Picture 15" descr="Screenshot 2026-09-30 1206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348537"/>
            <a:ext cx="5166360" cy="257240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92440" y="5532120"/>
            <a:ext cx="1325880" cy="4114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2400" b="1">
                <a:solidFill>
                  <a:srgbClr val="2C8957"/>
                </a:solidFill>
                <a:latin typeface="Aptos"/>
              </a:rPr>
              <a:t>75%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5897880"/>
            <a:ext cx="283464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000" b="0">
                <a:solidFill>
                  <a:srgbClr val="657382"/>
                </a:solidFill>
                <a:latin typeface="Aptos"/>
              </a:rPr>
              <a:t>post-remediation / later measurement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8C"/>
          </a:solidFill>
          <a:ln w="10160"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00788C"/>
                </a:solidFill>
                <a:latin typeface="Aptos"/>
              </a:rPr>
              <a:t>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600" b="1">
                <a:solidFill>
                  <a:srgbClr val="162334"/>
                </a:solidFill>
                <a:latin typeface="Aptos"/>
              </a:rPr>
              <a:t>What changed during the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41148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657382"/>
                </a:solidFill>
                <a:latin typeface="Aptos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57382"/>
                </a:solidFill>
                <a:latin typeface="Aptos"/>
              </a:rPr>
              <a:t>SHREIK GLOBAL  •  AWS CLOUD 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32588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57382"/>
                </a:solidFill>
                <a:latin typeface="Aptos"/>
              </a:rPr>
              <a:t>Vedant Kale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33756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8952" y="1572768"/>
            <a:ext cx="300837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500" b="1">
                <a:solidFill>
                  <a:srgbClr val="00788C"/>
                </a:solidFill>
                <a:latin typeface="Aptos"/>
              </a:rPr>
              <a:t>42% → 75%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57400"/>
            <a:ext cx="3008376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162334"/>
                </a:solidFill>
                <a:latin typeface="Aptos"/>
              </a:rPr>
              <a:t>CSPM score observed across the exercise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417320"/>
            <a:ext cx="333756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1" y="1572768"/>
            <a:ext cx="300837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500" b="1">
                <a:solidFill>
                  <a:srgbClr val="2C8957"/>
                </a:solidFill>
                <a:latin typeface="Aptos"/>
              </a:rPr>
              <a:t>287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1" y="2057400"/>
            <a:ext cx="3008376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162334"/>
                </a:solidFill>
                <a:latin typeface="Aptos"/>
              </a:rPr>
              <a:t>Passed controls at the later posture 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417320"/>
            <a:ext cx="333756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39912" y="1572768"/>
            <a:ext cx="3008376" cy="43891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500" b="1">
                <a:solidFill>
                  <a:srgbClr val="BE3E37"/>
                </a:solidFill>
                <a:latin typeface="Aptos"/>
              </a:rPr>
              <a:t>96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2" y="2057400"/>
            <a:ext cx="3008376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162334"/>
                </a:solidFill>
                <a:latin typeface="Aptos"/>
              </a:rPr>
              <a:t>Failed controls at the later posture 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246120"/>
            <a:ext cx="11018520" cy="23317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566160"/>
            <a:ext cx="29260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500" b="1">
                <a:solidFill>
                  <a:srgbClr val="162334"/>
                </a:solidFill>
                <a:latin typeface="Aptos"/>
              </a:rPr>
              <a:t>Evidence-backed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977639"/>
            <a:ext cx="10195560" cy="1325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F3A48"/>
                </a:solidFill>
                <a:latin typeface="Aptos"/>
              </a:defRPr>
            </a:pPr>
            <a:r>
              <a:t>• Security Hub provided the central posture and findings view.</a:t>
            </a:r>
          </a:p>
          <a:p>
            <a:pPr>
              <a:spcAft>
                <a:spcPts val="700"/>
              </a:spcAft>
              <a:defRPr sz="1200">
                <a:solidFill>
                  <a:srgbClr val="2F3A48"/>
                </a:solidFill>
                <a:latin typeface="Aptos"/>
              </a:defRPr>
            </a:pPr>
            <a:r>
              <a:t>• Athena queries demonstrated that Security Lake data was available for S3 activity, Security Hub findings and VPC Flow Logs.</a:t>
            </a:r>
          </a:p>
          <a:p>
            <a:pPr>
              <a:spcAft>
                <a:spcPts val="700"/>
              </a:spcAft>
              <a:defRPr sz="1200">
                <a:solidFill>
                  <a:srgbClr val="2F3A48"/>
                </a:solidFill>
                <a:latin typeface="Aptos"/>
              </a:defRPr>
            </a:pPr>
            <a:r>
              <a:t>• S3 Block Public Access was verified in the final bucket state.</a:t>
            </a:r>
          </a:p>
          <a:p>
            <a:pPr>
              <a:spcAft>
                <a:spcPts val="700"/>
              </a:spcAft>
              <a:defRPr sz="1200">
                <a:solidFill>
                  <a:srgbClr val="2F3A48"/>
                </a:solidFill>
                <a:latin typeface="Aptos"/>
              </a:defRPr>
            </a:pPr>
            <a:r>
              <a:t>• The later CSPM view showed a materially different posture score than the original 42% baseline.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8C"/>
          </a:solidFill>
          <a:ln w="10160"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00788C"/>
                </a:solidFill>
                <a:latin typeface="Aptos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600" b="1">
                <a:solidFill>
                  <a:srgbClr val="162334"/>
                </a:solidFill>
                <a:latin typeface="Aptos"/>
              </a:rPr>
              <a:t>Evidence map — what each screenshot proves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41148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657382"/>
                </a:solidFill>
                <a:latin typeface="Aptos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57382"/>
                </a:solidFill>
                <a:latin typeface="Aptos"/>
              </a:rPr>
              <a:t>SHREIK GLOBAL  •  AWS CLOUD 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32588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57382"/>
                </a:solidFill>
                <a:latin typeface="Aptos"/>
              </a:rPr>
              <a:t>Vedant Kale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10972800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463039"/>
            <a:ext cx="109728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00788C"/>
                </a:solidFill>
                <a:latin typeface="Aptos"/>
              </a:rPr>
              <a:t>01–04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435607"/>
            <a:ext cx="274320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162334"/>
                </a:solidFill>
                <a:latin typeface="Aptos"/>
              </a:rPr>
              <a:t>Security Hub / Config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1435607"/>
            <a:ext cx="63550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Standard, controls, recorder and resource coverage.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929384"/>
            <a:ext cx="10972800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066543"/>
            <a:ext cx="109728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00788C"/>
                </a:solidFill>
                <a:latin typeface="Aptos"/>
              </a:rPr>
              <a:t>05–06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039112"/>
            <a:ext cx="274320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162334"/>
                </a:solidFill>
                <a:latin typeface="Aptos"/>
              </a:rPr>
              <a:t>Controlled S3 drift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039112"/>
            <a:ext cx="63550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Public-policy test and preventive response.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532888"/>
            <a:ext cx="10972800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2670048"/>
            <a:ext cx="109728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00788C"/>
                </a:solidFill>
                <a:latin typeface="Aptos"/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642616"/>
            <a:ext cx="274320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162334"/>
                </a:solidFill>
                <a:latin typeface="Aptos"/>
              </a:rPr>
              <a:t>Baseline posture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2642616"/>
            <a:ext cx="63550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42% CSPM starting score.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136392"/>
            <a:ext cx="10972800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3273552"/>
            <a:ext cx="109728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00788C"/>
                </a:solidFill>
                <a:latin typeface="Aptos"/>
              </a:rPr>
              <a:t>08–12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3246120"/>
            <a:ext cx="274320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162334"/>
                </a:solidFill>
                <a:latin typeface="Aptos"/>
              </a:rPr>
              <a:t>Security Lake / Athena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9160" y="3246120"/>
            <a:ext cx="63550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S3 data events, Security Hub findings and VPC Flow Logs.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739896"/>
            <a:ext cx="10972800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3877056"/>
            <a:ext cx="109728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00788C"/>
                </a:solidFill>
                <a:latin typeface="Aptos"/>
              </a:rPr>
              <a:t>13–15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3849624"/>
            <a:ext cx="274320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162334"/>
                </a:solidFill>
                <a:latin typeface="Aptos"/>
              </a:rPr>
              <a:t>Response path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3849624"/>
            <a:ext cx="63550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Lambda remediation code and EventBridge configuration.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" y="4343400"/>
            <a:ext cx="10972800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4480560"/>
            <a:ext cx="109728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00788C"/>
                </a:solidFill>
                <a:latin typeface="Aptos"/>
              </a:rPr>
              <a:t>16–18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4453128"/>
            <a:ext cx="274320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162334"/>
                </a:solidFill>
                <a:latin typeface="Aptos"/>
              </a:rPr>
              <a:t>Prevention / Config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4453128"/>
            <a:ext cx="63550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S3 preventive test and Config rule evidence.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946904"/>
            <a:ext cx="10972800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22960" y="5084064"/>
            <a:ext cx="109728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00788C"/>
                </a:solidFill>
                <a:latin typeface="Aptos"/>
              </a:rPr>
              <a:t>19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5056632"/>
            <a:ext cx="274320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162334"/>
                </a:solidFill>
                <a:latin typeface="Aptos"/>
              </a:rPr>
              <a:t>Final S3 state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09160" y="5056632"/>
            <a:ext cx="63550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Block all public access = ON.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" y="5550408"/>
            <a:ext cx="10972800" cy="521207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" y="5687568"/>
            <a:ext cx="1097280" cy="201168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1">
                <a:solidFill>
                  <a:srgbClr val="00788C"/>
                </a:solidFill>
                <a:latin typeface="Aptos"/>
              </a:rPr>
              <a:t>20–22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0" y="5660136"/>
            <a:ext cx="2743200" cy="219456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162334"/>
                </a:solidFill>
                <a:latin typeface="Aptos"/>
              </a:rPr>
              <a:t>Final posture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60" y="5660136"/>
            <a:ext cx="635508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2F3A48"/>
                </a:solidFill>
                <a:latin typeface="Aptos"/>
              </a:rPr>
              <a:t>Security Hub summary + 75% posture + 42% comparison.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236208"/>
            <a:ext cx="10789920" cy="1828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0">
                <a:solidFill>
                  <a:srgbClr val="657382"/>
                </a:solidFill>
                <a:latin typeface="Aptos"/>
              </a:rPr>
              <a:t>22 visual evidence items are carried into this final deck, with the screenshots grouped by the stage they support.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788C"/>
          </a:solidFill>
          <a:ln w="10160"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900" b="1">
                <a:solidFill>
                  <a:srgbClr val="00788C"/>
                </a:solidFill>
                <a:latin typeface="Aptos"/>
              </a:rPr>
              <a:t>CLOSE-OUT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698480" cy="5029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2600" b="1">
                <a:solidFill>
                  <a:srgbClr val="162334"/>
                </a:solidFill>
                <a:latin typeface="Aptos"/>
              </a:rPr>
              <a:t>Submission-ready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438912"/>
            <a:ext cx="41148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1">
                <a:solidFill>
                  <a:srgbClr val="657382"/>
                </a:solidFill>
                <a:latin typeface="Aptos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640080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800" b="0">
                <a:solidFill>
                  <a:srgbClr val="657382"/>
                </a:solidFill>
                <a:latin typeface="Aptos"/>
              </a:rPr>
              <a:t>SHREIK GLOBAL  •  AWS CLOUD 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325880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800" b="0">
                <a:solidFill>
                  <a:srgbClr val="657382"/>
                </a:solidFill>
                <a:latin typeface="Aptos"/>
              </a:rPr>
              <a:t>Vedant Kale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1097280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63039"/>
            <a:ext cx="36576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700" b="1">
                <a:solidFill>
                  <a:srgbClr val="2C8957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435607"/>
            <a:ext cx="18288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162334"/>
                </a:solidFill>
                <a:latin typeface="Aptos"/>
              </a:rPr>
              <a:t>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435607"/>
            <a:ext cx="804672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2F3A48"/>
                </a:solidFill>
                <a:latin typeface="Aptos"/>
              </a:rPr>
              <a:t>Security Hub + Config baseline and deliberate misconfiguration 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075688"/>
            <a:ext cx="1097280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212848"/>
            <a:ext cx="36576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700" b="1">
                <a:solidFill>
                  <a:srgbClr val="2C8957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185416"/>
            <a:ext cx="18288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162334"/>
                </a:solidFill>
                <a:latin typeface="Aptos"/>
              </a:rPr>
              <a:t>Threat hunting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185416"/>
            <a:ext cx="804672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2F3A48"/>
                </a:solidFill>
                <a:latin typeface="Aptos"/>
              </a:rPr>
              <a:t>Security Lake / Athena queries across multiple source tables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2825496"/>
            <a:ext cx="1097280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2962656"/>
            <a:ext cx="36576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700" b="1">
                <a:solidFill>
                  <a:srgbClr val="2C8957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2935224"/>
            <a:ext cx="18288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162334"/>
                </a:solidFill>
                <a:latin typeface="Aptos"/>
              </a:rPr>
              <a:t>Prioritisation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935224"/>
            <a:ext cx="804672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2F3A48"/>
                </a:solidFill>
                <a:latin typeface="Aptos"/>
              </a:rPr>
              <a:t>Severity × Exposure × Resource Sensitivity model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575303"/>
            <a:ext cx="1097280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712463"/>
            <a:ext cx="36576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700" b="1">
                <a:solidFill>
                  <a:srgbClr val="2C8957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685031"/>
            <a:ext cx="18288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162334"/>
                </a:solidFill>
                <a:latin typeface="Aptos"/>
              </a:rPr>
              <a:t>Response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685031"/>
            <a:ext cx="804672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2F3A48"/>
                </a:solidFill>
                <a:latin typeface="Aptos"/>
              </a:rPr>
              <a:t>EventBridge → Lambda remediation path with safety guard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325112"/>
            <a:ext cx="1097280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462272"/>
            <a:ext cx="36576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700" b="1">
                <a:solidFill>
                  <a:srgbClr val="2C8957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4434840"/>
            <a:ext cx="18288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162334"/>
                </a:solidFill>
                <a:latin typeface="Aptos"/>
              </a:rPr>
              <a:t>Prevention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4434840"/>
            <a:ext cx="804672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2F3A48"/>
                </a:solidFill>
                <a:latin typeface="Aptos"/>
              </a:rPr>
              <a:t>S3 Block Public Access verified in the final state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5074920"/>
            <a:ext cx="1097280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212080"/>
            <a:ext cx="365760" cy="32004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700" b="1">
                <a:solidFill>
                  <a:srgbClr val="2C8957"/>
                </a:solidFill>
                <a:latin typeface="Apto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5184648"/>
            <a:ext cx="18288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1">
                <a:solidFill>
                  <a:srgbClr val="162334"/>
                </a:solidFill>
                <a:latin typeface="Aptos"/>
              </a:rPr>
              <a:t>Reporting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5184648"/>
            <a:ext cx="8046720" cy="3657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0">
                <a:solidFill>
                  <a:srgbClr val="2F3A48"/>
                </a:solidFill>
                <a:latin typeface="Aptos"/>
              </a:rPr>
              <a:t>Baseline and later CSPM score captured with screenshots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6053328"/>
            <a:ext cx="1078992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000" b="0">
                <a:solidFill>
                  <a:srgbClr val="657382"/>
                </a:solidFill>
                <a:latin typeface="Aptos"/>
              </a:rPr>
              <a:t>Final note: the report uses the screenshots as the primary evidence and keeps the narrative tied to what was actually observed.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788C"/>
          </a:solidFill>
          <a:ln w="10160">
            <a:solidFill>
              <a:srgbClr val="0078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27432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100" b="1">
                <a:solidFill>
                  <a:srgbClr val="00788C"/>
                </a:solidFill>
                <a:latin typeface="Aptos"/>
              </a:rPr>
              <a:t>CLOSING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6949440" cy="10515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3000" b="1">
                <a:solidFill>
                  <a:srgbClr val="162334"/>
                </a:solidFill>
                <a:latin typeface="Aptos"/>
              </a:rPr>
              <a:t>Detect → Prioritise → Remediate
→ Prevent → 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880360"/>
            <a:ext cx="6766560" cy="64008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700" b="0">
                <a:solidFill>
                  <a:srgbClr val="2F3A48"/>
                </a:solidFill>
                <a:latin typeface="Aptos"/>
              </a:rPr>
              <a:t>The exercise turns the CSPM requirement into a repeatable security workflow rather than a one-time compliance check.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234440"/>
            <a:ext cx="3383280" cy="3429000"/>
          </a:xfrm>
          <a:prstGeom prst="roundRect">
            <a:avLst/>
          </a:prstGeom>
          <a:solidFill>
            <a:srgbClr val="F4F8F9"/>
          </a:solidFill>
          <a:ln w="10160"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75320" y="1572768"/>
            <a:ext cx="2743200" cy="27432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400" b="1">
                <a:solidFill>
                  <a:srgbClr val="162334"/>
                </a:solidFill>
                <a:latin typeface="Aptos"/>
              </a:rPr>
              <a:t>Key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2057400"/>
            <a:ext cx="2697480" cy="2057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F3A48"/>
                </a:solidFill>
                <a:latin typeface="Aptos"/>
              </a:defRPr>
            </a:pPr>
            <a:r>
              <a:t>• 42% baseline posture</a:t>
            </a:r>
          </a:p>
          <a:p>
            <a:pPr>
              <a:spcAft>
                <a:spcPts val="700"/>
              </a:spcAft>
              <a:defRPr sz="1200">
                <a:solidFill>
                  <a:srgbClr val="2F3A48"/>
                </a:solidFill>
                <a:latin typeface="Aptos"/>
              </a:defRPr>
            </a:pPr>
            <a:r>
              <a:t>• Security Lake / Athena hunting evidence</a:t>
            </a:r>
          </a:p>
          <a:p>
            <a:pPr>
              <a:spcAft>
                <a:spcPts val="700"/>
              </a:spcAft>
              <a:defRPr sz="1200">
                <a:solidFill>
                  <a:srgbClr val="2F3A48"/>
                </a:solidFill>
                <a:latin typeface="Aptos"/>
              </a:defRPr>
            </a:pPr>
            <a:r>
              <a:t>• EventBridge + Lambda response path</a:t>
            </a:r>
          </a:p>
          <a:p>
            <a:pPr>
              <a:spcAft>
                <a:spcPts val="700"/>
              </a:spcAft>
              <a:defRPr sz="1200">
                <a:solidFill>
                  <a:srgbClr val="2F3A48"/>
                </a:solidFill>
                <a:latin typeface="Aptos"/>
              </a:defRPr>
            </a:pPr>
            <a:r>
              <a:t>• S3 preventive control verified</a:t>
            </a:r>
          </a:p>
          <a:p>
            <a:pPr>
              <a:spcAft>
                <a:spcPts val="700"/>
              </a:spcAft>
              <a:defRPr sz="1200">
                <a:solidFill>
                  <a:srgbClr val="2F3A48"/>
                </a:solidFill>
                <a:latin typeface="Aptos"/>
              </a:defRPr>
            </a:pPr>
            <a:r>
              <a:t>• 75% later CSPM posture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257800"/>
            <a:ext cx="3200400" cy="59436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l"/>
            <a:r>
              <a:rPr sz="1200" b="0">
                <a:solidFill>
                  <a:srgbClr val="657382"/>
                </a:solidFill>
                <a:latin typeface="Aptos"/>
              </a:rPr>
              <a:t>Prepared by Vedant Kale
AWS Cloud Engineer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5989320"/>
            <a:ext cx="4114800" cy="228600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r"/>
            <a:r>
              <a:rPr sz="1000" b="0">
                <a:solidFill>
                  <a:srgbClr val="657382"/>
                </a:solidFill>
                <a:latin typeface="Aptos"/>
              </a:rPr>
              <a:t>AWS Cloud Security Operations • CSPM Assessment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1300</Words>
  <Application>Microsoft Office PowerPoint</Application>
  <PresentationFormat>Widescreen</PresentationFormat>
  <Paragraphs>304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Vedant Kale</cp:lastModifiedBy>
  <cp:revision>3</cp:revision>
  <dcterms:created xsi:type="dcterms:W3CDTF">2013-01-27T09:14:16Z</dcterms:created>
  <dcterms:modified xsi:type="dcterms:W3CDTF">2026-09-30T10:14:31Z</dcterms:modified>
  <cp:category/>
</cp:coreProperties>
</file>